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9144000" cy="5143500"/>
  <p:embeddedFontLst>
    <p:embeddedFont>
      <p:font typeface="Montserrat SemiBold"/>
      <p:regular r:id="rId63"/>
      <p:bold r:id="rId64"/>
      <p:italic r:id="rId65"/>
      <p:boldItalic r:id="rId66"/>
    </p:embeddedFont>
    <p:embeddedFont>
      <p:font typeface="Montserrat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58">
          <p15:clr>
            <a:srgbClr val="000000"/>
          </p15:clr>
        </p15:guide>
        <p15:guide id="2" orient="horz" pos="1223">
          <p15:clr>
            <a:srgbClr val="000000"/>
          </p15:clr>
        </p15:guide>
        <p15:guide id="3" orient="horz" pos="1686">
          <p15:clr>
            <a:srgbClr val="000000"/>
          </p15:clr>
        </p15:guide>
        <p15:guide id="4" pos="2034">
          <p15:clr>
            <a:srgbClr val="000000"/>
          </p15:clr>
        </p15:guide>
        <p15:guide id="5" pos="3807">
          <p15:clr>
            <a:srgbClr val="000000"/>
          </p15:clr>
        </p15:guide>
        <p15:guide id="6" orient="horz" pos="1142">
          <p15:clr>
            <a:srgbClr val="000000"/>
          </p15:clr>
        </p15:guide>
        <p15:guide id="7" pos="113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5A769B-6D21-4AF9-804E-0F8A152D49D4}">
  <a:tblStyle styleId="{075A769B-6D21-4AF9-804E-0F8A152D49D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4D3602C-4D36-4536-83BA-422B76321E2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58" orient="horz"/>
        <p:guide pos="1223" orient="horz"/>
        <p:guide pos="1686" orient="horz"/>
        <p:guide pos="2034"/>
        <p:guide pos="3807"/>
        <p:guide pos="1142" orient="horz"/>
        <p:guide pos="11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schemas.openxmlformats.org/officeDocument/2006/relationships/font" Target="fonts/Montserrat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MontserratSemiBold-bold.fntdata"/><Relationship Id="rId63" Type="http://schemas.openxmlformats.org/officeDocument/2006/relationships/font" Target="fonts/MontserratSemiBold-regular.fntdata"/><Relationship Id="rId22" Type="http://schemas.openxmlformats.org/officeDocument/2006/relationships/slide" Target="slides/slide16.xml"/><Relationship Id="rId66" Type="http://schemas.openxmlformats.org/officeDocument/2006/relationships/font" Target="fonts/MontserratSemiBold-boldItalic.fntdata"/><Relationship Id="rId21" Type="http://schemas.openxmlformats.org/officeDocument/2006/relationships/slide" Target="slides/slide15.xml"/><Relationship Id="rId65" Type="http://schemas.openxmlformats.org/officeDocument/2006/relationships/font" Target="fonts/MontserratSemiBold-italic.fntdata"/><Relationship Id="rId24" Type="http://schemas.openxmlformats.org/officeDocument/2006/relationships/slide" Target="slides/slide18.xml"/><Relationship Id="rId68" Type="http://schemas.openxmlformats.org/officeDocument/2006/relationships/font" Target="fonts/Montserrat-bold.fntdata"/><Relationship Id="rId23" Type="http://schemas.openxmlformats.org/officeDocument/2006/relationships/slide" Target="slides/slide17.xml"/><Relationship Id="rId67" Type="http://schemas.openxmlformats.org/officeDocument/2006/relationships/font" Target="fonts/Montserrat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Montserrat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f20affec7_1_1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7f20affec7_1_1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ed3169f3d_0_3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7ed3169f3d_0_3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0920f8044_0_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80920f8044_0_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0920f8044_0_1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80920f8044_0_1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0920f8044_0_3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80920f8044_0_3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0920f8044_0_2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80920f8044_0_2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0920f8044_0_4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80920f8044_0_4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ed3169f3d_0_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7ed3169f3d_0_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0920f8044_0_4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80920f8044_0_4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20affec7_1_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7f20affec7_1_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0920f8044_0_5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80920f8044_0_5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631101fd3_0_7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6631101fd3_0_7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631101fd3_0_7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6631101fd3_0_7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0920f8044_0_6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80920f8044_0_6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631101fd3_0_8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6631101fd3_0_8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0920f8044_0_5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80920f8044_0_5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0920f8044_0_7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80920f8044_0_7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631101fd3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6631101fd3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631101fd3_0_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6631101fd3_0_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631101fd3_0_1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6631101fd3_0_1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631101fd3_0_3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6631101fd3_0_3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631101fd3_0_1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6631101fd3_0_1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631101fd3_0_9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6631101fd3_0_9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0920f8044_0_8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80920f8044_0_8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631101fd3_0_4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6631101fd3_0_4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631101fd3_0_9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6631101fd3_0_9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631101fd3_0_5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6631101fd3_0_5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631101fd3_0_10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6631101fd3_0_10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631101fd3_0_5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6631101fd3_0_5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631101fd3_0_11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6631101fd3_0_11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0920f8044_0_8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80920f8044_0_8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631101fd3_0_6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6631101fd3_0_6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631101fd3_0_12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6631101fd3_0_12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631101fd3_0_12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6631101fd3_0_12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631101fd3_0_19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6631101fd3_0_19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6631101fd3_0_13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6631101fd3_0_13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221a57d7b_0_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8221a57d7b_0_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221a57d7b_0_1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8221a57d7b_0_1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631101fd3_0_14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6631101fd3_0_14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6631101fd3_0_14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6631101fd3_0_14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631101fd3_0_15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6631101fd3_0_15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221a57d7b_0_2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8221a57d7b_0_2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221a57d7b_0_3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8221a57d7b_0_3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6631101fd3_0_16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6631101fd3_0_16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631101fd3_0_16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6631101fd3_0_16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631101fd3_0_17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6631101fd3_0_17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631101fd3_0_19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6631101fd3_0_19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6631101fd3_0_18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6631101fd3_0_18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8221a57d7b_0_6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8221a57d7b_0_6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221a57d7b_0_8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8221a57d7b_0_8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81f3c752bb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81f3c752bb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ычный слайд ">
  <p:cSld name="3_TITLE">
    <p:bg>
      <p:bgPr>
        <a:solidFill>
          <a:srgbClr val="FFFAED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3_Пользовательский макет">
    <p:bg>
      <p:bgPr>
        <a:solidFill>
          <a:srgbClr val="005FA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25630" y="4283050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02" y="3694918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39" y="4159926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 5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" type="body"/>
          </p:nvPr>
        </p:nvSpPr>
        <p:spPr>
          <a:xfrm>
            <a:off x="2116075" y="2921149"/>
            <a:ext cx="79971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●"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"/>
              <a:buNone/>
              <a:defRPr b="0" i="0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урока" type="title">
  <p:cSld name="TITLE">
    <p:bg>
      <p:bgPr>
        <a:solidFill>
          <a:srgbClr val="005FA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9755" y="4402626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5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7828" y="3814494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 txBox="1"/>
          <p:nvPr/>
        </p:nvSpPr>
        <p:spPr>
          <a:xfrm rot="2700000">
            <a:off x="2322864" y="4279502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hyperlink" Target="https://www.kaggle.com/datasets/netflix-inc/netflix-prize-data" TargetMode="External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Relationship Id="rId4" Type="http://schemas.openxmlformats.org/officeDocument/2006/relationships/hyperlink" Target="https://colab.research.google.com/drive/1b12e1jo_gVkECu3lbMxVcFNkIX-8Um6f?usp=sharing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/>
        </p:nvSpPr>
        <p:spPr>
          <a:xfrm>
            <a:off x="660316" y="4113011"/>
            <a:ext cx="3901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1" lang="ru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Булгакова Татьяна</a:t>
            </a:r>
            <a:endParaRPr b="1"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Google Shape;23;p6"/>
          <p:cNvSpPr txBox="1"/>
          <p:nvPr/>
        </p:nvSpPr>
        <p:spPr>
          <a:xfrm>
            <a:off x="344425" y="120225"/>
            <a:ext cx="7989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101: Данные как основа рекомендаций</a:t>
            </a:r>
            <a:endParaRPr b="1" i="0" sz="4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" name="Google Shape;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34239" y="1714313"/>
            <a:ext cx="10902502" cy="397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6"/>
          <p:cNvSpPr txBox="1"/>
          <p:nvPr/>
        </p:nvSpPr>
        <p:spPr>
          <a:xfrm>
            <a:off x="414000" y="1795800"/>
            <a:ext cx="7560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 title="photo_2022-09-13_13-44-00.jpg"/>
          <p:cNvPicPr preferRelativeResize="0"/>
          <p:nvPr/>
        </p:nvPicPr>
        <p:blipFill rotWithShape="1">
          <a:blip r:embed="rId3">
            <a:alphaModFix/>
          </a:blip>
          <a:srcRect b="0" l="2945" r="2945" t="0"/>
          <a:stretch/>
        </p:blipFill>
        <p:spPr>
          <a:xfrm>
            <a:off x="6445550" y="1416525"/>
            <a:ext cx="2088000" cy="2520000"/>
          </a:xfrm>
          <a:prstGeom prst="roundRect">
            <a:avLst>
              <a:gd fmla="val 7530" name="adj"/>
            </a:avLst>
          </a:prstGeom>
          <a:noFill/>
          <a:ln>
            <a:noFill/>
          </a:ln>
        </p:spPr>
      </p:pic>
      <p:sp>
        <p:nvSpPr>
          <p:cNvPr id="31" name="Google Shape;31;p7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Булгакова Татьяна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7"/>
          <p:cNvSpPr txBox="1"/>
          <p:nvPr/>
        </p:nvSpPr>
        <p:spPr>
          <a:xfrm>
            <a:off x="265000" y="1203325"/>
            <a:ext cx="5970000" cy="3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Профессиональный опыт в Data Science с 2010 года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Участвовала в научно-исследовательских и коммерческих проектах в области анализа сигналов, рекомендательных систем и биотехнологий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Оказываю консалтинговые услуги по внедрению решений на базе искусственного интеллекта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проекты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НИИ ИПЭЭ РАН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	– Разработка программного обеспечения для настройки оборудования исследования пространственного слуха китообразных.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Медицинские центры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– Создание и внедрение рекомендательных систем для оптимальной настройки нейростимуляторов пациентам.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Цель занятия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540000" y="1440000"/>
            <a:ext cx="5277600" cy="12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Понять разницу между явными и неявными обратными связями.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методы взвешивания неявных сигналов.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Сравнить подходы к данным.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3">
            <a:alphaModFix/>
          </a:blip>
          <a:srcRect b="0" l="-47" r="47704" t="7475"/>
          <a:stretch/>
        </p:blipFill>
        <p:spPr>
          <a:xfrm flipH="1" rot="10800000">
            <a:off x="5581375" y="1213701"/>
            <a:ext cx="3562624" cy="392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" name="Google Shape;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9" y="2231051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0" y="1466650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8000" y="1466902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9" y="2995450"/>
            <a:ext cx="143953" cy="1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/>
          <p:nvPr/>
        </p:nvSpPr>
        <p:spPr>
          <a:xfrm>
            <a:off x="864009" y="1330025"/>
            <a:ext cx="3118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Роль данных в рекомендательных системах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9"/>
          <p:cNvSpPr txBox="1"/>
          <p:nvPr/>
        </p:nvSpPr>
        <p:spPr>
          <a:xfrm>
            <a:off x="4930333" y="1440000"/>
            <a:ext cx="3019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матриц взаимодействия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864009" y="2098200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Явные vs. неявные сигналы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52;p9"/>
          <p:cNvSpPr txBox="1"/>
          <p:nvPr/>
        </p:nvSpPr>
        <p:spPr>
          <a:xfrm>
            <a:off x="864009" y="2866383"/>
            <a:ext cx="3118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Экспертный, статистический, ML подходы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" name="Google Shape;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997" y="3759850"/>
            <a:ext cx="143953" cy="1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863998" y="3678525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Особенности данных и подходов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/>
        </p:nvSpPr>
        <p:spPr>
          <a:xfrm>
            <a:off x="540000" y="504000"/>
            <a:ext cx="7047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Роль данных в рекомендательных системах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" name="Google Shape;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32775" y="857857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/>
        </p:nvSpPr>
        <p:spPr>
          <a:xfrm>
            <a:off x="333300" y="219025"/>
            <a:ext cx="8477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Данные — фундамент рекомендаций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" name="Google Shape;66;p11" title="п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000" y="738949"/>
            <a:ext cx="6269575" cy="411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/>
        </p:nvSpPr>
        <p:spPr>
          <a:xfrm>
            <a:off x="540000" y="504000"/>
            <a:ext cx="80178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Уникальные данные → Уникальные рекомендации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" name="Google Shape;72;p12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/>
        </p:nvSpPr>
        <p:spPr>
          <a:xfrm>
            <a:off x="431550" y="4610250"/>
            <a:ext cx="682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>
                <a:solidFill>
                  <a:schemeClr val="hlink"/>
                </a:solidFill>
                <a:hlinkClick r:id="rId4"/>
              </a:rPr>
              <a:t>https://www.kaggle.com/datasets/netflix-inc/netflix-prize-data</a:t>
            </a:r>
            <a:endParaRPr sz="1000"/>
          </a:p>
        </p:txBody>
      </p:sp>
      <p:pic>
        <p:nvPicPr>
          <p:cNvPr id="74" name="Google Shape;74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3525" y="1454175"/>
            <a:ext cx="4655225" cy="23155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2"/>
          <p:cNvSpPr txBox="1"/>
          <p:nvPr/>
        </p:nvSpPr>
        <p:spPr>
          <a:xfrm>
            <a:off x="404200" y="1409275"/>
            <a:ext cx="3876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Netflix Prize: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Состоялось в 2006-2009 годах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Приз в $1,000,000 за улучшение точности на 10%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Участвовало более 50,000 команд из 186 стран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Улучшение данных дало прирост на 5%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/>
        </p:nvSpPr>
        <p:spPr>
          <a:xfrm>
            <a:off x="540000" y="504000"/>
            <a:ext cx="8017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</a:t>
            </a:r>
            <a:r>
              <a:rPr b="1"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анные → выбор алгоритма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" name="Google Shape;81;p13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 title="дата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100" y="1203325"/>
            <a:ext cx="5796551" cy="37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/>
        </p:nvSpPr>
        <p:spPr>
          <a:xfrm>
            <a:off x="540000" y="504000"/>
            <a:ext cx="8017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Жизненный цикл данных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 title="li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0775" y="733125"/>
            <a:ext cx="3300000" cy="40775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693750" y="2042900"/>
            <a:ext cx="428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Качество на каждом этапе = Качество итоговых рекомендаций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/>
        </p:nvSpPr>
        <p:spPr>
          <a:xfrm>
            <a:off x="518150" y="383850"/>
            <a:ext cx="8017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Разные данные → Разные цели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15"/>
          <p:cNvGraphicFramePr/>
          <p:nvPr/>
        </p:nvGraphicFramePr>
        <p:xfrm>
          <a:off x="485625" y="214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2763025"/>
                <a:gridCol w="2843325"/>
                <a:gridCol w="19669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E-commerce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Медиа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Медицина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🛒 Purchase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👁️ Spent time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🏥 Treatment outcomes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Процент пользователей, совершивших покупку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Время, </a:t>
                      </a:r>
                      <a:r>
                        <a:rPr lang="ru" sz="1000"/>
                        <a:t>проведенное</a:t>
                      </a:r>
                      <a:r>
                        <a:rPr lang="ru" sz="1000"/>
                        <a:t> пользователем за просмотром контента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Результаты лечения пациентов после </a:t>
                      </a:r>
                      <a:r>
                        <a:rPr lang="ru" sz="1000"/>
                        <a:t>проведенного</a:t>
                      </a:r>
                      <a:r>
                        <a:rPr lang="ru" sz="1000"/>
                        <a:t> лечения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📊 Average order value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⏱️ Retention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✅ Accuracy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Средний чек на одного покупателя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Доля возвращающихся пользователей с течением времени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Точность диагноза или эффективности медицинской модели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Явные и неявные сигналы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32775" y="857857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Типы сигналов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09" name="Google Shape;109;p17"/>
          <p:cNvGraphicFramePr/>
          <p:nvPr/>
        </p:nvGraphicFramePr>
        <p:xfrm>
          <a:off x="539988" y="1328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2011550"/>
                <a:gridCol w="3274725"/>
                <a:gridCol w="2592825"/>
              </a:tblGrid>
              <a:tr h="32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Критерий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Явные отзывы (Explicit)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Неявные отзывы (Implicit)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58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Примеры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Оценки ★★★★★, лайки, опросы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Просмотры, клики, время на странице, покупки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2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Сигнал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Очевидный</a:t>
                      </a:r>
                      <a:r>
                        <a:rPr lang="ru" sz="1000"/>
                        <a:t> и понятный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Косвенный и шумный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2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Количество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Мало (≤5% пользователей)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Много (100% активных пользователей)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8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Объективность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Субъективны (зависят от настроения)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Объективны (фиксируют реальное поведение)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2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Сложность сбора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Просто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Сложно (требует аналитики)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Примеры из медицины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5" name="Google Shape;115;p18"/>
          <p:cNvGraphicFramePr/>
          <p:nvPr/>
        </p:nvGraphicFramePr>
        <p:xfrm>
          <a:off x="493138" y="156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1085625"/>
                <a:gridCol w="3107175"/>
                <a:gridCol w="3964925"/>
              </a:tblGrid>
              <a:tr h="214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>
                          <a:solidFill>
                            <a:srgbClr val="4A556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Критерий</a:t>
                      </a:r>
                      <a:endParaRPr b="1" sz="900">
                        <a:solidFill>
                          <a:srgbClr val="4A556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>
                          <a:solidFill>
                            <a:srgbClr val="4A556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Явные отзывы (Explicit)</a:t>
                      </a:r>
                      <a:endParaRPr b="1" sz="900">
                        <a:solidFill>
                          <a:srgbClr val="4A556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>
                          <a:solidFill>
                            <a:srgbClr val="4A556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Неявные отзывы (Implicit)</a:t>
                      </a:r>
                      <a:endParaRPr b="1" sz="900">
                        <a:solidFill>
                          <a:srgbClr val="4A556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59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Пример 1</a:t>
                      </a:r>
                      <a:endParaRPr b="1"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Текстовый отзыв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Повторные визиты к тому же врачу или в ту же клинику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9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Пример 2</a:t>
                      </a:r>
                      <a:endParaRPr b="1"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Прямые оценки или комментарии врача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Действия врача (назначение анализов, лечение)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0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Пример 3</a:t>
                      </a:r>
                      <a:endParaRPr b="1"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Прямые оценки пациентов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Результаты анализов и инструментальных исследований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Сигнал</a:t>
                      </a:r>
                      <a:endParaRPr b="1"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Очевидный и однозначный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Косвенный и требует интерпретации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Сущность неявных отзывов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560400" y="1133100"/>
            <a:ext cx="80232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Неявные отзывы — это косвенные сигналы о предпочтениях пользователей, 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извлекаемые из их поведения без явного выражения мнения.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666400" y="1999225"/>
            <a:ext cx="7650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🔍    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ассивно собираются в процессе использования сервиса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📊    имеют непрерывный и количественный характер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⚙️    требуют интерпретации и преобразования в полезные сигналы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✅    часто более надежны, чем явные оценки (меньше социального давления)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типы неявных сигналов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3025" y="1385150"/>
            <a:ext cx="5588000" cy="3014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463950" y="223600"/>
            <a:ext cx="82746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Дифференцированный подход к кодированию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Разные типы сигналов — разные стратегии преобразования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1225" y="1525007"/>
            <a:ext cx="5587997" cy="3241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Таксономия методов кодирования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43" name="Google Shape;143;p22"/>
          <p:cNvGraphicFramePr/>
          <p:nvPr/>
        </p:nvGraphicFramePr>
        <p:xfrm>
          <a:off x="493138" y="156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1784250"/>
                <a:gridCol w="3283025"/>
                <a:gridCol w="3090450"/>
              </a:tblGrid>
              <a:tr h="214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>
                          <a:solidFill>
                            <a:srgbClr val="4A5568"/>
                          </a:solidFill>
                        </a:rPr>
                        <a:t>ТИП СИГНАЛА</a:t>
                      </a:r>
                      <a:endParaRPr b="1" sz="900">
                        <a:solidFill>
                          <a:srgbClr val="4A556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>
                          <a:solidFill>
                            <a:srgbClr val="4A5568"/>
                          </a:solidFill>
                        </a:rPr>
                        <a:t>	МЕТОД ОБРАБОТКИ</a:t>
                      </a:r>
                      <a:endParaRPr b="1" sz="900">
                        <a:solidFill>
                          <a:srgbClr val="4A556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>
                          <a:solidFill>
                            <a:srgbClr val="4A5568"/>
                          </a:solidFill>
                        </a:rPr>
                        <a:t>	ФИНАЛЬНЫЙ ВЕС</a:t>
                      </a:r>
                      <a:endParaRPr b="1" sz="900">
                        <a:solidFill>
                          <a:srgbClr val="4A556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59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Количественный</a:t>
                      </a:r>
                      <a:endParaRPr b="1"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Нормализация Min-Max,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Логарифмирование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Непрерывный диапазон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9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Временной</a:t>
                      </a:r>
                      <a:endParaRPr b="1"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Экспоненциальное затухание,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Сезонные коэффициенты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Динамически изменяемый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0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Категориальный</a:t>
                      </a:r>
                      <a:endParaRPr b="1"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One-hot encoding,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Весовые коэффициенты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Дискретные значения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/>
        </p:nvSpPr>
        <p:spPr>
          <a:xfrm>
            <a:off x="540000" y="504000"/>
            <a:ext cx="7560000" cy="13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Философия кодирования неявных сигналов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475" y="1559950"/>
            <a:ext cx="5587999" cy="2936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/>
        </p:nvSpPr>
        <p:spPr>
          <a:xfrm>
            <a:off x="540000" y="50400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Подходы к реализации принципов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2475" y="1167975"/>
            <a:ext cx="4573432" cy="348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/>
        </p:nvSpPr>
        <p:spPr>
          <a:xfrm>
            <a:off x="540000" y="504000"/>
            <a:ext cx="7047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Экспертный, статистический, ML подходы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32775" y="857857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/>
          <p:nvPr/>
        </p:nvSpPr>
        <p:spPr>
          <a:xfrm>
            <a:off x="539998" y="1008000"/>
            <a:ext cx="704460" cy="518808"/>
          </a:xfrm>
          <a:custGeom>
            <a:rect b="b" l="l" r="r" t="t"/>
            <a:pathLst>
              <a:path extrusionOk="0" h="1037616" w="1408919">
                <a:moveTo>
                  <a:pt x="1014726" y="0"/>
                </a:moveTo>
                <a:lnTo>
                  <a:pt x="1370771" y="0"/>
                </a:lnTo>
                <a:lnTo>
                  <a:pt x="1243612" y="429797"/>
                </a:lnTo>
                <a:cubicBezTo>
                  <a:pt x="1296171" y="455229"/>
                  <a:pt x="1336862" y="492105"/>
                  <a:pt x="1365685" y="540425"/>
                </a:cubicBezTo>
                <a:cubicBezTo>
                  <a:pt x="1394507" y="588745"/>
                  <a:pt x="1408919" y="645967"/>
                  <a:pt x="1408919" y="712089"/>
                </a:cubicBezTo>
                <a:cubicBezTo>
                  <a:pt x="1408919" y="810425"/>
                  <a:pt x="1377553" y="889264"/>
                  <a:pt x="1314821" y="948605"/>
                </a:cubicBezTo>
                <a:cubicBezTo>
                  <a:pt x="1252090" y="1007945"/>
                  <a:pt x="1171555" y="1037616"/>
                  <a:pt x="1073219" y="1037616"/>
                </a:cubicBezTo>
                <a:cubicBezTo>
                  <a:pt x="974883" y="1037616"/>
                  <a:pt x="894349" y="1007945"/>
                  <a:pt x="831618" y="948605"/>
                </a:cubicBezTo>
                <a:cubicBezTo>
                  <a:pt x="768886" y="889264"/>
                  <a:pt x="737520" y="810425"/>
                  <a:pt x="737520" y="712089"/>
                </a:cubicBezTo>
                <a:cubicBezTo>
                  <a:pt x="737520" y="668008"/>
                  <a:pt x="743454" y="623926"/>
                  <a:pt x="755323" y="579844"/>
                </a:cubicBezTo>
                <a:cubicBezTo>
                  <a:pt x="767191" y="535763"/>
                  <a:pt x="794318" y="468792"/>
                  <a:pt x="836704" y="378933"/>
                </a:cubicBezTo>
                <a:close/>
                <a:moveTo>
                  <a:pt x="277206" y="0"/>
                </a:moveTo>
                <a:lnTo>
                  <a:pt x="633250" y="0"/>
                </a:lnTo>
                <a:lnTo>
                  <a:pt x="506091" y="429797"/>
                </a:lnTo>
                <a:cubicBezTo>
                  <a:pt x="558650" y="455229"/>
                  <a:pt x="599341" y="492105"/>
                  <a:pt x="628164" y="540425"/>
                </a:cubicBezTo>
                <a:cubicBezTo>
                  <a:pt x="656986" y="588745"/>
                  <a:pt x="671398" y="645967"/>
                  <a:pt x="671398" y="712089"/>
                </a:cubicBezTo>
                <a:cubicBezTo>
                  <a:pt x="671398" y="810425"/>
                  <a:pt x="640032" y="889264"/>
                  <a:pt x="577300" y="948605"/>
                </a:cubicBezTo>
                <a:cubicBezTo>
                  <a:pt x="514569" y="1007945"/>
                  <a:pt x="434035" y="1037616"/>
                  <a:pt x="335699" y="1037616"/>
                </a:cubicBezTo>
                <a:cubicBezTo>
                  <a:pt x="237363" y="1037616"/>
                  <a:pt x="156829" y="1007945"/>
                  <a:pt x="94097" y="948605"/>
                </a:cubicBezTo>
                <a:cubicBezTo>
                  <a:pt x="31365" y="889264"/>
                  <a:pt x="0" y="810425"/>
                  <a:pt x="0" y="712089"/>
                </a:cubicBezTo>
                <a:cubicBezTo>
                  <a:pt x="0" y="668008"/>
                  <a:pt x="5934" y="623926"/>
                  <a:pt x="17802" y="579844"/>
                </a:cubicBezTo>
                <a:cubicBezTo>
                  <a:pt x="29670" y="535763"/>
                  <a:pt x="56797" y="468792"/>
                  <a:pt x="99183" y="37893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540000" y="1800000"/>
            <a:ext cx="72543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Экспертный подход к кодированию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/>
        </p:nvSpPr>
        <p:spPr>
          <a:xfrm>
            <a:off x="540000" y="504000"/>
            <a:ext cx="8226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Экспертный подход к кодированию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75" name="Google Shape;175;p27"/>
          <p:cNvGraphicFramePr/>
          <p:nvPr/>
        </p:nvGraphicFramePr>
        <p:xfrm>
          <a:off x="1295638" y="142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2246650"/>
                <a:gridCol w="3657475"/>
              </a:tblGrid>
              <a:tr h="32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Описание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Методология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Основана на предметных знаниях и бизнес-логике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2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Подходы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Правила на основе опыта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Ручное назначение значимости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Использование отраслевых знаний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2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Преимущества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Легко объяснить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Учитывает контекст задачи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Быстрое внедрение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8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Ограничения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Субъективность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Трудно расширять и поддерживать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Малоподвижность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/>
        </p:nvSpPr>
        <p:spPr>
          <a:xfrm>
            <a:off x="540000" y="504000"/>
            <a:ext cx="8226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Примеры эвристических правил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1" name="Google Shape;1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00" y="1812925"/>
            <a:ext cx="8288699" cy="1415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/>
        </p:nvSpPr>
        <p:spPr>
          <a:xfrm>
            <a:off x="540000" y="504000"/>
            <a:ext cx="8226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Примеры эвристических правил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7" name="Google Shape;1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25" y="1116275"/>
            <a:ext cx="6931581" cy="156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950" y="2738650"/>
            <a:ext cx="6200775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/>
        </p:nvSpPr>
        <p:spPr>
          <a:xfrm>
            <a:off x="540000" y="504000"/>
            <a:ext cx="8226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Примеры эвристических правил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00" y="1416725"/>
            <a:ext cx="7824974" cy="268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/>
        </p:nvSpPr>
        <p:spPr>
          <a:xfrm>
            <a:off x="540000" y="504000"/>
            <a:ext cx="8226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Примеры эвристических правил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1"/>
          <p:cNvSpPr txBox="1"/>
          <p:nvPr/>
        </p:nvSpPr>
        <p:spPr>
          <a:xfrm>
            <a:off x="461000" y="1268950"/>
            <a:ext cx="7621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Диагностический процесс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от анализа симптомов до консилиума врачей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Варианты лечения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различные методы терапии с соответствующими весами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Мониторинг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регулярные обследования и коррекция лечения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Критически важные решения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биопсия (9), план лечения (9), исход (10)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/>
        </p:nvSpPr>
        <p:spPr>
          <a:xfrm>
            <a:off x="540000" y="504000"/>
            <a:ext cx="8226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Процесс применения (Цикл):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2"/>
          <p:cNvSpPr txBox="1"/>
          <p:nvPr/>
        </p:nvSpPr>
        <p:spPr>
          <a:xfrm>
            <a:off x="461000" y="1268950"/>
            <a:ext cx="7621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Анализ: 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эксперт изучает данные и поведение.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Формализация: 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создание гипотез и правил («Я считаю, что...»).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Внедрение: 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реализация правил в системе.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Мониторинг: 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оценка эффективности рекомендаций.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Коррекция: 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уточнение и добавление новых правил на основе обратной связи.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/>
          <p:nvPr/>
        </p:nvSpPr>
        <p:spPr>
          <a:xfrm>
            <a:off x="539998" y="1008000"/>
            <a:ext cx="704460" cy="518808"/>
          </a:xfrm>
          <a:custGeom>
            <a:rect b="b" l="l" r="r" t="t"/>
            <a:pathLst>
              <a:path extrusionOk="0" h="1037616" w="1408919">
                <a:moveTo>
                  <a:pt x="1014726" y="0"/>
                </a:moveTo>
                <a:lnTo>
                  <a:pt x="1370771" y="0"/>
                </a:lnTo>
                <a:lnTo>
                  <a:pt x="1243612" y="429797"/>
                </a:lnTo>
                <a:cubicBezTo>
                  <a:pt x="1296171" y="455229"/>
                  <a:pt x="1336862" y="492105"/>
                  <a:pt x="1365685" y="540425"/>
                </a:cubicBezTo>
                <a:cubicBezTo>
                  <a:pt x="1394507" y="588745"/>
                  <a:pt x="1408919" y="645967"/>
                  <a:pt x="1408919" y="712089"/>
                </a:cubicBezTo>
                <a:cubicBezTo>
                  <a:pt x="1408919" y="810425"/>
                  <a:pt x="1377553" y="889264"/>
                  <a:pt x="1314821" y="948605"/>
                </a:cubicBezTo>
                <a:cubicBezTo>
                  <a:pt x="1252090" y="1007945"/>
                  <a:pt x="1171555" y="1037616"/>
                  <a:pt x="1073219" y="1037616"/>
                </a:cubicBezTo>
                <a:cubicBezTo>
                  <a:pt x="974883" y="1037616"/>
                  <a:pt x="894349" y="1007945"/>
                  <a:pt x="831618" y="948605"/>
                </a:cubicBezTo>
                <a:cubicBezTo>
                  <a:pt x="768886" y="889264"/>
                  <a:pt x="737520" y="810425"/>
                  <a:pt x="737520" y="712089"/>
                </a:cubicBezTo>
                <a:cubicBezTo>
                  <a:pt x="737520" y="668008"/>
                  <a:pt x="743454" y="623926"/>
                  <a:pt x="755323" y="579844"/>
                </a:cubicBezTo>
                <a:cubicBezTo>
                  <a:pt x="767191" y="535763"/>
                  <a:pt x="794318" y="468792"/>
                  <a:pt x="836704" y="378933"/>
                </a:cubicBezTo>
                <a:close/>
                <a:moveTo>
                  <a:pt x="277206" y="0"/>
                </a:moveTo>
                <a:lnTo>
                  <a:pt x="633250" y="0"/>
                </a:lnTo>
                <a:lnTo>
                  <a:pt x="506091" y="429797"/>
                </a:lnTo>
                <a:cubicBezTo>
                  <a:pt x="558650" y="455229"/>
                  <a:pt x="599341" y="492105"/>
                  <a:pt x="628164" y="540425"/>
                </a:cubicBezTo>
                <a:cubicBezTo>
                  <a:pt x="656986" y="588745"/>
                  <a:pt x="671398" y="645967"/>
                  <a:pt x="671398" y="712089"/>
                </a:cubicBezTo>
                <a:cubicBezTo>
                  <a:pt x="671398" y="810425"/>
                  <a:pt x="640032" y="889264"/>
                  <a:pt x="577300" y="948605"/>
                </a:cubicBezTo>
                <a:cubicBezTo>
                  <a:pt x="514569" y="1007945"/>
                  <a:pt x="434035" y="1037616"/>
                  <a:pt x="335699" y="1037616"/>
                </a:cubicBezTo>
                <a:cubicBezTo>
                  <a:pt x="237363" y="1037616"/>
                  <a:pt x="156829" y="1007945"/>
                  <a:pt x="94097" y="948605"/>
                </a:cubicBezTo>
                <a:cubicBezTo>
                  <a:pt x="31365" y="889264"/>
                  <a:pt x="0" y="810425"/>
                  <a:pt x="0" y="712089"/>
                </a:cubicBezTo>
                <a:cubicBezTo>
                  <a:pt x="0" y="668008"/>
                  <a:pt x="5934" y="623926"/>
                  <a:pt x="17802" y="579844"/>
                </a:cubicBezTo>
                <a:cubicBezTo>
                  <a:pt x="29670" y="535763"/>
                  <a:pt x="56797" y="468792"/>
                  <a:pt x="99183" y="37893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540000" y="1800000"/>
            <a:ext cx="72543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Статистический подход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" name="Google Shape;217;p34"/>
          <p:cNvGraphicFramePr/>
          <p:nvPr/>
        </p:nvGraphicFramePr>
        <p:xfrm>
          <a:off x="735300" y="112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1327975"/>
                <a:gridCol w="2739200"/>
                <a:gridCol w="3606225"/>
              </a:tblGrid>
              <a:tr h="163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>
                          <a:solidFill>
                            <a:srgbClr val="4A5568"/>
                          </a:solidFill>
                        </a:rPr>
                        <a:t>Категория</a:t>
                      </a:r>
                      <a:endParaRPr b="1" sz="900">
                        <a:solidFill>
                          <a:srgbClr val="4A556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>
                          <a:solidFill>
                            <a:srgbClr val="4A5568"/>
                          </a:solidFill>
                        </a:rPr>
                        <a:t>Элемент (подход/метод/преимущество/ограничение)</a:t>
                      </a:r>
                      <a:endParaRPr b="1" sz="900">
                        <a:solidFill>
                          <a:srgbClr val="4A556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>
                          <a:solidFill>
                            <a:srgbClr val="4A5568"/>
                          </a:solidFill>
                        </a:rPr>
                        <a:t>Описание</a:t>
                      </a:r>
                      <a:endParaRPr b="1" sz="900">
                        <a:solidFill>
                          <a:srgbClr val="4A556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373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/>
                        <a:t>Общий подход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Статистический подход к кодированию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Основан на анализе данных и закономерностей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20257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/>
                        <a:t>Методы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Частотный анализ (TF-IDF)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Оценка важности элементов по частоте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373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Корреляционный анализ с целевыми метриками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Определение весов на основе связи с метриками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20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Анализ временных закономерностей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Учёт изменений во времени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20257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/>
                        <a:t>Преимущества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Объективность на основе данных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Минимизация субъективности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20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Автоматическое масштабирование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Работа с большими </a:t>
                      </a:r>
                      <a:r>
                        <a:rPr lang="ru" sz="1200"/>
                        <a:t>объемами</a:t>
                      </a:r>
                      <a:r>
                        <a:rPr lang="ru" sz="1200"/>
                        <a:t> данных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20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Адаптивность к изменениям в данных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Способность подстраиваться под новое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30387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/>
                        <a:t>Ограничения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Требует больших объёмов данных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Недостаток данных снижает эффективность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2882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Зависимость от качества данных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Ошибки/шум в данных влияют на результат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218" name="Google Shape;218;p34"/>
          <p:cNvSpPr txBox="1"/>
          <p:nvPr/>
        </p:nvSpPr>
        <p:spPr>
          <a:xfrm>
            <a:off x="793625" y="241525"/>
            <a:ext cx="686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Статистический подход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" name="Google Shape;223;p35"/>
          <p:cNvGraphicFramePr/>
          <p:nvPr/>
        </p:nvGraphicFramePr>
        <p:xfrm>
          <a:off x="398225" y="120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894700"/>
                <a:gridCol w="1706000"/>
                <a:gridCol w="2812300"/>
                <a:gridCol w="2900150"/>
              </a:tblGrid>
              <a:tr h="18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Метод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Цель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Пример в E-commerce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Пример в Медицине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49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Нормализация (Z-score)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Привести признаки к единому масштабу с ср.знач.=0 и откл.=1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norm_x = (x - μ_x) / σ_x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norm_cholesterol = (chol_lvl - μ_age_group) / σ_age_group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9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Масштабирование (Min-Max)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Привести признаки к диапазону [0, 1]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scaled_views = (views - min_views) / (max_views - min_views)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scaled_age = (age - 18) / (100 - 18)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40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Логарифмирование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Учесть нелинейность, "снизить" выбросы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log_clicks = log(1 + click_count)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log_tumor_size = log(1 + size_mm)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9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Квантили / Перцентили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Группировка по объективной "значимости"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Вес просмотра = 0.1, 0.5, 0.9, если он в 1-м, 2-м или 3-м квартиле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Стадия гипертонии определяется перцентилем артериального давления для возраста и пола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95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Корреляционный анализ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Обнаружить взаимосвязи между сигналами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Найти, что покупка чехла коррелирует с покупкой защитного стекла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</a:t>
                      </a: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ровень глюкозы коррелирует с временем суток сильнее, чем с приемом пищи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224" name="Google Shape;224;p35"/>
          <p:cNvSpPr txBox="1"/>
          <p:nvPr/>
        </p:nvSpPr>
        <p:spPr>
          <a:xfrm>
            <a:off x="365850" y="168225"/>
            <a:ext cx="841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Основные методы и примеры их применения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525" y="1920375"/>
            <a:ext cx="5953125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 txBox="1"/>
          <p:nvPr/>
        </p:nvSpPr>
        <p:spPr>
          <a:xfrm>
            <a:off x="2034125" y="594075"/>
            <a:ext cx="601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Частотный анализ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/>
        </p:nvSpPr>
        <p:spPr>
          <a:xfrm>
            <a:off x="2034125" y="594075"/>
            <a:ext cx="601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Частотный анализ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36" name="Google Shape;236;p37"/>
          <p:cNvGraphicFramePr/>
          <p:nvPr/>
        </p:nvGraphicFramePr>
        <p:xfrm>
          <a:off x="451138" y="155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1285350"/>
                <a:gridCol w="3034275"/>
                <a:gridCol w="3715150"/>
              </a:tblGrid>
              <a:tr h="110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Домен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Что считаем?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Как используется?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E-commerce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Популярность товара (общее число покупок)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Неперсонализированные рекомендации: «Популярные товары», «Хиты продаж». Просто и эффективно для новичков.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Частота совместных покупок (A и B)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Правило ассоциации: «С этим товаром покупают...». Если A, то с вероятностью X купят B.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Медицина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Частота возникновения симптома у пациентов с диагнозом X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Диагностические правила: симптом, который встречается у 95% пациентов с болезнью Y, получает высокий диагностический вес.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Частота побочных эффектов у пациентов на препарате Z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Мониторинг безопасности: редкие но серьезных побочных эффектов.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/>
        </p:nvSpPr>
        <p:spPr>
          <a:xfrm>
            <a:off x="1306950" y="532300"/>
            <a:ext cx="601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Корреляционный анализ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2" name="Google Shape;24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300" y="1606850"/>
            <a:ext cx="608647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/>
        </p:nvSpPr>
        <p:spPr>
          <a:xfrm>
            <a:off x="1520850" y="611325"/>
            <a:ext cx="601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Корреляционный анализ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48" name="Google Shape;248;p39"/>
          <p:cNvGraphicFramePr/>
          <p:nvPr/>
        </p:nvGraphicFramePr>
        <p:xfrm>
          <a:off x="864075" y="125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1034900"/>
                <a:gridCol w="2607050"/>
                <a:gridCol w="3939075"/>
              </a:tblGrid>
              <a:tr h="18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Домен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Что анализируем?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Как используется?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484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E-commerce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Корреляция покупок товаров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Если пользователь часто смотрит на какой-то товар или возвращается к нему, мы это запоминаем. Для таких товаров отмечаем, что пользователь ими интересовался (например, делаем специальную пометку) — создаются бинарные признаки ("интересовался товаром"), которые используются в рекомендациях, даже без явной покупки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84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Медицина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Корреляция симптомов и диагнозов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Если пациент часто ищет информацию по какому-то симптому или делает анализы на одни и те же показатели, мы отмечаем это в его профиле как "неявное подозрение" на определённые заболевания и помогает системе рекомендовать нужные обследования или консультации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8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Медиа-сервисы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Корреляция просмотров фильмов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Выделяются группы контента, которые часто нравятся одним и тем же пользователям. Если человек проявляет похожий интерес, это отмечается в его профиле.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/>
          <p:nvPr/>
        </p:nvSpPr>
        <p:spPr>
          <a:xfrm>
            <a:off x="539998" y="1008000"/>
            <a:ext cx="704460" cy="518808"/>
          </a:xfrm>
          <a:custGeom>
            <a:rect b="b" l="l" r="r" t="t"/>
            <a:pathLst>
              <a:path extrusionOk="0" h="1037616" w="1408919">
                <a:moveTo>
                  <a:pt x="1014726" y="0"/>
                </a:moveTo>
                <a:lnTo>
                  <a:pt x="1370771" y="0"/>
                </a:lnTo>
                <a:lnTo>
                  <a:pt x="1243612" y="429797"/>
                </a:lnTo>
                <a:cubicBezTo>
                  <a:pt x="1296171" y="455229"/>
                  <a:pt x="1336862" y="492105"/>
                  <a:pt x="1365685" y="540425"/>
                </a:cubicBezTo>
                <a:cubicBezTo>
                  <a:pt x="1394507" y="588745"/>
                  <a:pt x="1408919" y="645967"/>
                  <a:pt x="1408919" y="712089"/>
                </a:cubicBezTo>
                <a:cubicBezTo>
                  <a:pt x="1408919" y="810425"/>
                  <a:pt x="1377553" y="889264"/>
                  <a:pt x="1314821" y="948605"/>
                </a:cubicBezTo>
                <a:cubicBezTo>
                  <a:pt x="1252090" y="1007945"/>
                  <a:pt x="1171555" y="1037616"/>
                  <a:pt x="1073219" y="1037616"/>
                </a:cubicBezTo>
                <a:cubicBezTo>
                  <a:pt x="974883" y="1037616"/>
                  <a:pt x="894349" y="1007945"/>
                  <a:pt x="831618" y="948605"/>
                </a:cubicBezTo>
                <a:cubicBezTo>
                  <a:pt x="768886" y="889264"/>
                  <a:pt x="737520" y="810425"/>
                  <a:pt x="737520" y="712089"/>
                </a:cubicBezTo>
                <a:cubicBezTo>
                  <a:pt x="737520" y="668008"/>
                  <a:pt x="743454" y="623926"/>
                  <a:pt x="755323" y="579844"/>
                </a:cubicBezTo>
                <a:cubicBezTo>
                  <a:pt x="767191" y="535763"/>
                  <a:pt x="794318" y="468792"/>
                  <a:pt x="836704" y="378933"/>
                </a:cubicBezTo>
                <a:close/>
                <a:moveTo>
                  <a:pt x="277206" y="0"/>
                </a:moveTo>
                <a:lnTo>
                  <a:pt x="633250" y="0"/>
                </a:lnTo>
                <a:lnTo>
                  <a:pt x="506091" y="429797"/>
                </a:lnTo>
                <a:cubicBezTo>
                  <a:pt x="558650" y="455229"/>
                  <a:pt x="599341" y="492105"/>
                  <a:pt x="628164" y="540425"/>
                </a:cubicBezTo>
                <a:cubicBezTo>
                  <a:pt x="656986" y="588745"/>
                  <a:pt x="671398" y="645967"/>
                  <a:pt x="671398" y="712089"/>
                </a:cubicBezTo>
                <a:cubicBezTo>
                  <a:pt x="671398" y="810425"/>
                  <a:pt x="640032" y="889264"/>
                  <a:pt x="577300" y="948605"/>
                </a:cubicBezTo>
                <a:cubicBezTo>
                  <a:pt x="514569" y="1007945"/>
                  <a:pt x="434035" y="1037616"/>
                  <a:pt x="335699" y="1037616"/>
                </a:cubicBezTo>
                <a:cubicBezTo>
                  <a:pt x="237363" y="1037616"/>
                  <a:pt x="156829" y="1007945"/>
                  <a:pt x="94097" y="948605"/>
                </a:cubicBezTo>
                <a:cubicBezTo>
                  <a:pt x="31365" y="889264"/>
                  <a:pt x="0" y="810425"/>
                  <a:pt x="0" y="712089"/>
                </a:cubicBezTo>
                <a:cubicBezTo>
                  <a:pt x="0" y="668008"/>
                  <a:pt x="5934" y="623926"/>
                  <a:pt x="17802" y="579844"/>
                </a:cubicBezTo>
                <a:cubicBezTo>
                  <a:pt x="29670" y="535763"/>
                  <a:pt x="56797" y="468792"/>
                  <a:pt x="99183" y="37893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4" name="Google Shape;254;p40"/>
          <p:cNvSpPr txBox="1"/>
          <p:nvPr/>
        </p:nvSpPr>
        <p:spPr>
          <a:xfrm>
            <a:off x="540000" y="1800000"/>
            <a:ext cx="72543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ML-</a:t>
            </a:r>
            <a:r>
              <a:rPr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подход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/>
        </p:nvSpPr>
        <p:spPr>
          <a:xfrm>
            <a:off x="1306950" y="532300"/>
            <a:ext cx="601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Машинное обучение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0" name="Google Shape;26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125" y="1742700"/>
            <a:ext cx="6628850" cy="174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/>
        </p:nvSpPr>
        <p:spPr>
          <a:xfrm>
            <a:off x="1306950" y="532300"/>
            <a:ext cx="6675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Решаемые задачи и методы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66" name="Google Shape;266;p42"/>
          <p:cNvGraphicFramePr/>
          <p:nvPr/>
        </p:nvGraphicFramePr>
        <p:xfrm>
          <a:off x="770300" y="126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1914975"/>
                <a:gridCol w="2551325"/>
                <a:gridCol w="34398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Задача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Проблема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ML-Решение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Учет контекста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Один и тот же просмотр длительностью 5 минут может отличаться во временном контексте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Модели временных рядов (например, RNN) учатся учитывать контекст (время суток, день недели) для динамического взвешивания одного и того же действия.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43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Обучение представлений (Embeddings)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Сохранить семантику взаимоотношений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Алгоритмы</a:t>
                      </a: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Word2Vec обучают векторные представления действий на основе последовательностей пользовательского поведения. "Похожие" действия получают "близкие" вектора.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46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Автоматическое извлечение признаков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Автоматически извлекать больше сотни признаков из ограниченного количества признаков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Автоэнкодеры учатся сжимать сырые многомерные данные (например, показания датчиков) в компактные латентные представления, которые уже являются идеальными признаками для моделей.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Учет долгосрочных предпочтений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Учет долгосрочных предпочтений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Рекуррентные сети (RNN, LSTM) анализируют всю последовательность действий пользователя, чтобы взвесить последнее действие в контексте всей его истории.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/>
        </p:nvSpPr>
        <p:spPr>
          <a:xfrm>
            <a:off x="4770450" y="1094100"/>
            <a:ext cx="4238400" cy="3324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(+):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Алгоритм сам находит наилучший способ преобразования данных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ML может уловить неочевидные для человека нелинейные связи между сигналами.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Модель можно дообучать на новых данных, чтобы веса сигналов соответствовали меняющемуся поведению пользователей.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ML-модель может предсказать вес даже для нового, никогда не встречавшегося действия, на основе его "сходства" с известными действиями.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43"/>
          <p:cNvSpPr txBox="1"/>
          <p:nvPr/>
        </p:nvSpPr>
        <p:spPr>
          <a:xfrm>
            <a:off x="513250" y="1186350"/>
            <a:ext cx="3582900" cy="2955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(-):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Почему модель присвоила одно действие определенные веса.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Для устойчивой работы таких моделей нужны очень большие объемы данных.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Процесс обучения таких моделей кодирования требует значительных ресурсов.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Требуется построение сложных ML-пайплайнов.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3"/>
          <p:cNvSpPr txBox="1"/>
          <p:nvPr/>
        </p:nvSpPr>
        <p:spPr>
          <a:xfrm>
            <a:off x="612475" y="237200"/>
            <a:ext cx="77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Ограничения и преимущества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/>
        </p:nvSpPr>
        <p:spPr>
          <a:xfrm>
            <a:off x="664250" y="21525"/>
            <a:ext cx="77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Критерии выбора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79" name="Google Shape;279;p44"/>
          <p:cNvGraphicFramePr/>
          <p:nvPr/>
        </p:nvGraphicFramePr>
        <p:xfrm>
          <a:off x="393950" y="73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1648725"/>
                <a:gridCol w="1966275"/>
                <a:gridCol w="1989725"/>
                <a:gridCol w="2085875"/>
              </a:tblGrid>
              <a:tr h="23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Критерий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Экспертный (Эвристики)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Статистический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Машинное Обучение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19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Объем данных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Мало данных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Большие массивы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Очень большие объемы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Интерпретируемость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Высокая (правила понятны)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Высокая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Низкая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Скорость внедрения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Низкая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Средняя (нужен анализ)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Высокая (после обучения)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Сложность проблемы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Линейные, понятные связи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Линейные и слабо нелинейные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</a:t>
                      </a: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ложные, нелинейные связи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Гибкость и адаптивность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Низкая (правила устаревают)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Средняя (нужен пересчет)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Высокая (самообучается)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Ресурсоемкость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Экспертиза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Вычислительные ресурсы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Данные + Вычисления + ML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Идеальный Use-Case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Критичные решения (медицина), ниши, стартапы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</a:t>
                      </a: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табильные процессы, E-commerce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Персонализация, сложные паттерны, Big Data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91425" marL="9142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Контекст и атрибуты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5" name="Google Shape;28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32775" y="857857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/>
        </p:nvSpPr>
        <p:spPr>
          <a:xfrm>
            <a:off x="1306950" y="532300"/>
            <a:ext cx="601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Контекст и атрибуты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1" name="Google Shape;2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0975" y="1203325"/>
            <a:ext cx="3084307" cy="365989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6"/>
          <p:cNvSpPr txBox="1"/>
          <p:nvPr/>
        </p:nvSpPr>
        <p:spPr>
          <a:xfrm>
            <a:off x="794750" y="1475400"/>
            <a:ext cx="4074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Мы научились взвешивать действия пользователя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Но одинаковое действие в разных условиях имеет разную ценность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Ключевая идея: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Персонализация = Поведение × Контекст × Атрибуты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 txBox="1"/>
          <p:nvPr/>
        </p:nvSpPr>
        <p:spPr>
          <a:xfrm>
            <a:off x="752675" y="304075"/>
            <a:ext cx="709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Примеры из разных доменов: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47"/>
          <p:cNvSpPr txBox="1"/>
          <p:nvPr/>
        </p:nvSpPr>
        <p:spPr>
          <a:xfrm>
            <a:off x="374950" y="1080000"/>
            <a:ext cx="8247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🏥 Медицина: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❓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Запись к кардиологу пациентом 65 лет | Запись к кардиологу пациентом 25 лет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❗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Разница: для пожилого пациента — срочная необходимость (вес ×2), для молодого — профилактика (вес ×1)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—------------------------------------------------------------------------------------------------------------------------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🎬 Медиа (стриминговые сервисы):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❓Просмотр фильма вечером в субботу | Просмотр фильма утром в понедельник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❗ 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Разница: вечерний просмотр — целенаправленный досуг (вес ×1.8), утренний — фон (вес ×0.3)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—--------------------------------------------------------------------------------------------------------------------------------------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📍 Геолокация (сервисы):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❓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Поиск стоматологии в 1 км от дома | Поиск стоматологии в 10 км от дома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❗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Разница: близкая клиника имеет вероятность визита выше (вес ×1.5 vs ×0.7)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/>
        </p:nvSpPr>
        <p:spPr>
          <a:xfrm>
            <a:off x="508125" y="189950"/>
            <a:ext cx="7601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Контекстуальные данные (окружение)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04" name="Google Shape;304;p48"/>
          <p:cNvGraphicFramePr/>
          <p:nvPr/>
        </p:nvGraphicFramePr>
        <p:xfrm>
          <a:off x="641475" y="166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1266825"/>
                <a:gridCol w="1504950"/>
                <a:gridCol w="1838325"/>
                <a:gridCol w="22479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Контекст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Исходные данные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Способ обработки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Готовый признак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Время суток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19:30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Биннинг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Вечер (one-hot)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День недели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Суббота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Бинаризация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is_weekend = 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Устройство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Mobile Safari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One-Hot Encoding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device_mobile = 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Геолокация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Москва, РФ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Категоризация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city_moscow = 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305" name="Google Shape;305;p48"/>
          <p:cNvSpPr txBox="1"/>
          <p:nvPr/>
        </p:nvSpPr>
        <p:spPr>
          <a:xfrm>
            <a:off x="660250" y="2840750"/>
            <a:ext cx="706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Бизнес-логика применения: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Вес_действия = Базовый_вес × Контекстный_множитель</a:t>
            </a:r>
            <a:endParaRPr i="1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Пример: </a:t>
            </a:r>
            <a:r>
              <a:rPr i="1" lang="ru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Просмотр_фильма × is_weekend_evening × 1.8</a:t>
            </a:r>
            <a:endParaRPr i="1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 txBox="1"/>
          <p:nvPr/>
        </p:nvSpPr>
        <p:spPr>
          <a:xfrm>
            <a:off x="642600" y="222550"/>
            <a:ext cx="689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Откуда берутся контекстные множители?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49"/>
          <p:cNvSpPr txBox="1"/>
          <p:nvPr/>
        </p:nvSpPr>
        <p:spPr>
          <a:xfrm>
            <a:off x="790675" y="1357182"/>
            <a:ext cx="6328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1. Экспертный подход (Эвристика)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Мы знаем, что вечерние просмотры в выходные — это целенаправленный досуг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Решаем: умножать вес на 1.8 для is_weekend_evening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2. Статистический анализ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Сравниваем конверсию действий в разных контекстах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Пример расчета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Просмотр фильма → Досмотр до конца: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В будни утром: 15% конверсия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В выходные вечером: 45% конверсия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Множитель = 45% / 15% = 3.0 (а не 1.8!)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/>
          <p:nvPr/>
        </p:nvSpPr>
        <p:spPr>
          <a:xfrm>
            <a:off x="694475" y="290775"/>
            <a:ext cx="681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Атрибутивные данные (свойства)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675" y="1707451"/>
            <a:ext cx="8128927" cy="17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50"/>
          <p:cNvSpPr txBox="1"/>
          <p:nvPr/>
        </p:nvSpPr>
        <p:spPr>
          <a:xfrm>
            <a:off x="1178852" y="3973200"/>
            <a:ext cx="659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Вес_просмотра × 1.8(контекст) × 1.2(совпадение_жанра) × 1.1(высокий_рейтинг)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/>
          <p:nvPr/>
        </p:nvSpPr>
        <p:spPr>
          <a:xfrm>
            <a:off x="694475" y="290775"/>
            <a:ext cx="681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Объединяем все вместе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4" name="Google Shape;32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325" y="995925"/>
            <a:ext cx="6647352" cy="390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/>
          <p:nvPr/>
        </p:nvSpPr>
        <p:spPr>
          <a:xfrm>
            <a:off x="694475" y="290775"/>
            <a:ext cx="681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Типичные ошибки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52"/>
          <p:cNvSpPr txBox="1"/>
          <p:nvPr/>
        </p:nvSpPr>
        <p:spPr>
          <a:xfrm>
            <a:off x="669775" y="876525"/>
            <a:ext cx="7911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Слепое кодирование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⚠️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Проблема: закодировали все признаки без отбора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Решение: анализ важности признаков перед кодированием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Проклятие размерности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⚠️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Проблема: 1000+ one-hot признаков после кодирования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Решение: использовать embedding'и или отбор признаков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Утечка данных (Data Leakage)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⚠️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Проблема: использовали будущую информацию для предсказания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Пример: включили "факт покупки" в признаки для предсказания "добавления в корзину"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Решение: Строгое разделение на обучающую и тестовую выборки по времени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/>
        </p:nvSpPr>
        <p:spPr>
          <a:xfrm>
            <a:off x="694475" y="290775"/>
            <a:ext cx="681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Резюме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6" name="Google Shape;33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9675"/>
            <a:ext cx="8839199" cy="50140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3"/>
          <p:cNvSpPr txBox="1"/>
          <p:nvPr/>
        </p:nvSpPr>
        <p:spPr>
          <a:xfrm>
            <a:off x="621425" y="2086750"/>
            <a:ext cx="696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Рекомендация = Σ(Действие × Вес × Контекст × Атрибуты_пользователя × Атрибуты_объекта)</a:t>
            </a:r>
            <a:endParaRPr i="1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4"/>
          <p:cNvSpPr txBox="1"/>
          <p:nvPr/>
        </p:nvSpPr>
        <p:spPr>
          <a:xfrm>
            <a:off x="154875" y="142975"/>
            <a:ext cx="8745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От формулы к матрице: структурируем данные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3" name="Google Shape;34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400" y="914475"/>
            <a:ext cx="5338579" cy="358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4"/>
          <p:cNvSpPr txBox="1"/>
          <p:nvPr/>
        </p:nvSpPr>
        <p:spPr>
          <a:xfrm>
            <a:off x="243175" y="1578800"/>
            <a:ext cx="3574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В матрицу взаимодействий User-Item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Строки: пользователи/пациенты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Столбцы: товары/фильмы/лечения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Ячейки: рассчитанные финальные веса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5"/>
          <p:cNvSpPr txBox="1"/>
          <p:nvPr/>
        </p:nvSpPr>
        <p:spPr>
          <a:xfrm>
            <a:off x="774750" y="221750"/>
            <a:ext cx="802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Базовый случай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55"/>
          <p:cNvSpPr txBox="1"/>
          <p:nvPr/>
        </p:nvSpPr>
        <p:spPr>
          <a:xfrm>
            <a:off x="774750" y="1078300"/>
            <a:ext cx="655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51" name="Google Shape;351;p55"/>
          <p:cNvGraphicFramePr/>
          <p:nvPr/>
        </p:nvGraphicFramePr>
        <p:xfrm>
          <a:off x="752775" y="102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{44D3602C-4D36-4536-83BA-422B76321E20}</a:tableStyleId>
              </a:tblPr>
              <a:tblGrid>
                <a:gridCol w="1134200"/>
                <a:gridCol w="1134200"/>
                <a:gridCol w="1134200"/>
                <a:gridCol w="1134200"/>
              </a:tblGrid>
              <a:tr h="2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Комедия А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Драма Б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Боевик В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User1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User2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1.5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3.0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User3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1.2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2" name="Google Shape;352;p55"/>
          <p:cNvSpPr txBox="1"/>
          <p:nvPr/>
        </p:nvSpPr>
        <p:spPr>
          <a:xfrm>
            <a:off x="525775" y="2626700"/>
            <a:ext cx="8186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Формула базового веса (пример для стриминга):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Вес = (Просмотр_трейлера × 0.3) + (Просмотр_5мин × 0.7) + (Лайк × 1.5) + (Досмотр × 2.0)</a:t>
            </a:r>
            <a:endParaRPr i="1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6"/>
          <p:cNvSpPr txBox="1"/>
          <p:nvPr/>
        </p:nvSpPr>
        <p:spPr>
          <a:xfrm>
            <a:off x="146700" y="49225"/>
            <a:ext cx="847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Проблема холодного старта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56"/>
          <p:cNvSpPr txBox="1"/>
          <p:nvPr/>
        </p:nvSpPr>
        <p:spPr>
          <a:xfrm>
            <a:off x="611950" y="2590750"/>
            <a:ext cx="6930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Используем атрибуты пользователя и контента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Вектор для предсказания: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[Возраст, Любимый_жанр, Язык] + [Жанр_фильма, Рейтинг, Актеры] + [Время_суток, Устройство]</a:t>
            </a:r>
            <a:endParaRPr i="1" sz="1200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 для нового пользователя: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[25 лет, Комедия, RU] + [Комедия, Рейтинг 8.1, Актер Х] + [Вечер, Смартфон]</a:t>
            </a:r>
            <a:endParaRPr i="1" sz="1200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59" name="Google Shape;359;p56"/>
          <p:cNvGraphicFramePr/>
          <p:nvPr/>
        </p:nvGraphicFramePr>
        <p:xfrm>
          <a:off x="752775" y="102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{44D3602C-4D36-4536-83BA-422B76321E20}</a:tableStyleId>
              </a:tblPr>
              <a:tblGrid>
                <a:gridCol w="1134200"/>
                <a:gridCol w="1134200"/>
                <a:gridCol w="1134200"/>
                <a:gridCol w="1134200"/>
              </a:tblGrid>
              <a:tr h="2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Комедия А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Драма Б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Боевик В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User1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User2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1.5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3.0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New_user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?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?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?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"/>
          <p:cNvSpPr txBox="1"/>
          <p:nvPr/>
        </p:nvSpPr>
        <p:spPr>
          <a:xfrm>
            <a:off x="774750" y="221750"/>
            <a:ext cx="802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Обогащенная матрица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65" name="Google Shape;365;p57"/>
          <p:cNvGraphicFramePr/>
          <p:nvPr/>
        </p:nvGraphicFramePr>
        <p:xfrm>
          <a:off x="462175" y="81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{075A769B-6D21-4AF9-804E-0F8A152D49D4}</a:tableStyleId>
              </a:tblPr>
              <a:tblGrid>
                <a:gridCol w="2028225"/>
                <a:gridCol w="2477525"/>
                <a:gridCol w="30295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Этап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Компоненты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Значение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Базовые действия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Просмотр трейлера + 5 минут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Контекст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Вечер выходного + мобильное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1.62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Атрибуты пользователя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Любит комедии + возраст 35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2.4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Атрибуты фильма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Жанр комедия + рейтинг 8.5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Финальный вес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 × 1.62 × 2.4 × 1.95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7.58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366" name="Google Shape;366;p57"/>
          <p:cNvSpPr txBox="1"/>
          <p:nvPr/>
        </p:nvSpPr>
        <p:spPr>
          <a:xfrm>
            <a:off x="462175" y="2469829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Было (базовая матрица):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67" name="Google Shape;367;p57"/>
          <p:cNvGraphicFramePr/>
          <p:nvPr/>
        </p:nvGraphicFramePr>
        <p:xfrm>
          <a:off x="522100" y="28143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{44D3602C-4D36-4536-83BA-422B76321E20}</a:tableStyleId>
              </a:tblPr>
              <a:tblGrid>
                <a:gridCol w="1211675"/>
                <a:gridCol w="1211675"/>
                <a:gridCol w="1211675"/>
                <a:gridCol w="1211675"/>
              </a:tblGrid>
              <a:tr h="24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Комедия 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Драма Б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Боевик 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4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User1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8" name="Google Shape;368;p57"/>
          <p:cNvSpPr txBox="1"/>
          <p:nvPr/>
        </p:nvSpPr>
        <p:spPr>
          <a:xfrm>
            <a:off x="490700" y="3537679"/>
            <a:ext cx="512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Стало (обогащенная матрица):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69" name="Google Shape;369;p57"/>
          <p:cNvGraphicFramePr/>
          <p:nvPr/>
        </p:nvGraphicFramePr>
        <p:xfrm>
          <a:off x="522100" y="3863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{44D3602C-4D36-4536-83BA-422B76321E20}</a:tableStyleId>
              </a:tblPr>
              <a:tblGrid>
                <a:gridCol w="1211675"/>
                <a:gridCol w="1211675"/>
                <a:gridCol w="1211675"/>
                <a:gridCol w="1211675"/>
              </a:tblGrid>
              <a:tr h="24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Комедия 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Драма Б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Боевик 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4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User1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7.58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8"/>
          <p:cNvSpPr txBox="1"/>
          <p:nvPr/>
        </p:nvSpPr>
        <p:spPr>
          <a:xfrm>
            <a:off x="677700" y="62800"/>
            <a:ext cx="8021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Пример обогащенной матрицы: рекомендации с геопозицией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58"/>
          <p:cNvSpPr txBox="1"/>
          <p:nvPr/>
        </p:nvSpPr>
        <p:spPr>
          <a:xfrm>
            <a:off x="831450" y="1203325"/>
            <a:ext cx="757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Формула с геопозицией: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Вес_клиники = (Запись × 1.0) × Доступность_в_регионе × Специализация × Рейтинг</a:t>
            </a:r>
            <a:endParaRPr i="1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76" name="Google Shape;376;p58"/>
          <p:cNvGraphicFramePr/>
          <p:nvPr/>
        </p:nvGraphicFramePr>
        <p:xfrm>
          <a:off x="912975" y="2150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{44D3602C-4D36-4536-83BA-422B76321E20}</a:tableStyleId>
              </a:tblPr>
              <a:tblGrid>
                <a:gridCol w="1668125"/>
                <a:gridCol w="1668125"/>
                <a:gridCol w="1668125"/>
                <a:gridCol w="1668125"/>
              </a:tblGrid>
              <a:tr h="2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Клиника А (3 км)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Клиника Б (8 км)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Клиника В (25 км)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Пациент1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2.4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1.2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Пациент2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1.8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7" name="Google Shape;377;p58"/>
          <p:cNvSpPr txBox="1"/>
          <p:nvPr/>
        </p:nvSpPr>
        <p:spPr>
          <a:xfrm>
            <a:off x="831450" y="3268675"/>
            <a:ext cx="8215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Расчет для Пациент1: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Клиника А: 1.0 × 1.5 (близко) × 1.3 (специализация) × 1.2 (рейтинг) = 2.34 → 2.4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Клиника Б: 1.0 × 0.8 × 1.3 × 1.2 = 1.25 → 1.2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Клиника В: 1.0 × 0.3 × 1.3 × 1.2 = 0.47 → 0.6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"/>
          <p:cNvSpPr txBox="1"/>
          <p:nvPr/>
        </p:nvSpPr>
        <p:spPr>
          <a:xfrm>
            <a:off x="518750" y="22050"/>
            <a:ext cx="8021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Ранжирование рекомендаций с геопозицией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59"/>
          <p:cNvSpPr txBox="1"/>
          <p:nvPr/>
        </p:nvSpPr>
        <p:spPr>
          <a:xfrm>
            <a:off x="450150" y="1046075"/>
            <a:ext cx="82437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Топ-3 рекомендации для пациента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Пациент: </a:t>
            </a: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Москва, СВАО, Кардиология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Рекомендации: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highlight>
                  <a:srgbClr val="F8F8F8"/>
                </a:highlight>
              </a:rPr>
              <a:t>🏥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Клиника А (3 км) - вес 2.4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Специализация по кардиологии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Близко к дому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Высокий рейтинг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highlight>
                  <a:srgbClr val="F8F8F8"/>
                </a:highlight>
              </a:rPr>
              <a:t>🏥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Клиника Б (8 км) - вес 1.2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Кардиология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Средняя удаленность ⚠️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Высокий рейтинг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highlight>
                  <a:srgbClr val="F8F8F8"/>
                </a:highlight>
              </a:rPr>
              <a:t>🏥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Клиника В (25 км) - вес 0.6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Узкая специализация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Далеко от дома 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Средний рейтинг ⚠️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0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Практика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9" name="Google Shape;38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32775" y="768192"/>
            <a:ext cx="10902502" cy="397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0"/>
          <p:cNvSpPr txBox="1"/>
          <p:nvPr/>
        </p:nvSpPr>
        <p:spPr>
          <a:xfrm>
            <a:off x="326775" y="4662575"/>
            <a:ext cx="797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https://colab.research.google.com/drive/1b12e1jo_gVkECu3lbMxVcFNkIX-8Um6f?usp=sharing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1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6" name="Google Shape;39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17850" y="1839262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killbox">
      <a:dk1>
        <a:srgbClr val="000000"/>
      </a:dk1>
      <a:lt1>
        <a:srgbClr val="FFFFFF"/>
      </a:lt1>
      <a:dk2>
        <a:srgbClr val="262626"/>
      </a:dk2>
      <a:lt2>
        <a:srgbClr val="F6F6F6"/>
      </a:lt2>
      <a:accent1>
        <a:srgbClr val="3D3BFF"/>
      </a:accent1>
      <a:accent2>
        <a:srgbClr val="FCACA9"/>
      </a:accent2>
      <a:accent3>
        <a:srgbClr val="262626"/>
      </a:accent3>
      <a:accent4>
        <a:srgbClr val="A5A5A5"/>
      </a:accent4>
      <a:accent5>
        <a:srgbClr val="D8D8D8"/>
      </a:accent5>
      <a:accent6>
        <a:srgbClr val="F2F2F2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